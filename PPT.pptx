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75" r:id="rId15"/>
    <p:sldId id="274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70"/>
    <a:srgbClr val="80C7DB"/>
    <a:srgbClr val="E5E5E5"/>
    <a:srgbClr val="F4F3F3"/>
    <a:srgbClr val="8A8F97"/>
    <a:srgbClr val="74D1EE"/>
    <a:srgbClr val="4472C4"/>
    <a:srgbClr val="837E71"/>
    <a:srgbClr val="26291C"/>
    <a:srgbClr val="95D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6A60-CC3D-23D5-BF16-C19AFE47C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7C81B-1A63-C502-A02A-F65C5B0ED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0F62A-C3A0-19A3-BF46-B2375E38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75FB1-A8C8-A1F8-81C0-55BA8A21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9D95E-52A8-00AE-F7CA-CF0914E5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50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F272-ED73-0A9E-D384-3644BC08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D5E72-395D-F2EA-5CCB-D97FF80AE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948AD-2B10-DB7B-DFD3-B065DDDA8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722C5-C9D7-49F7-7D59-D66611A8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1D1C-E7DF-4E8E-AD6D-DD97483E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6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9DB4-6D19-E7ED-185E-99D4CAA2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E38DE-B762-B83E-6E20-C45FA9F4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1A76F-7058-BACF-7E3B-935593D4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0CC15-D8A6-642A-E953-21403A58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335E5-7459-C4E8-A8ED-0990A44C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58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A12A-9329-A4DA-D7BF-94B23D52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F70E3-0F3C-1ACE-8DDD-79CEEC27A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DC4D8-12A0-C0D5-874C-B14AC61BF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2F261-283A-8D57-B8FA-DDEB5979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BD00B-327C-FD3E-E0BE-A665076D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420DF-18D4-458D-E22D-7031D22E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737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0F959-149E-A95D-69B1-5D661909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29E4F-5DEE-9E15-0A4F-369C01BDF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89DF-07DC-36B5-9AD8-86B54B607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6A558-17E6-F9D3-AB1B-0A3AF99B3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63141-314A-5BC3-370A-7325B5ACCF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F5DC9-BF0E-8B8C-3C3D-8558C517F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B100C-5ACD-1576-EAB6-8A5966324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F20D4-F584-B031-C6E6-45C58AFF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63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938F-F829-861C-0A5E-1F15AB63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558730-2CBB-B5C6-D6DF-E9EF813D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67BD-2FB5-4BF2-E156-4329BC60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E8469-8757-413E-9172-C7125DEF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2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8DA8A-07F2-3E62-D803-4CDA35E3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986A7-CBCF-D632-9B32-DAB6A151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B9766-68C6-59A0-0909-F7ECDA39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2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EACD-C5D9-A5DD-E0E0-5B98E16C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F657-3D88-C376-5555-400130CDD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49F6E-63A2-CAA1-DD5D-14FE03A2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611BF-AB97-4772-630B-CE60AF819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A2CAE-0CEC-A262-BB5A-389CD59B1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6F32E-BB2B-B151-1D2D-B979BC9D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6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A5B4-FDCD-62C0-496A-046A8F41E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7526F-6B2C-57F9-A9D7-07451C0AE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1CC0E-19B5-A19F-A990-72B24C610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862B2-D30A-002D-39F0-9B75DB65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FDD9A-D038-5401-49B5-F99022FC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0D624-B970-92AF-AFB0-9D08C24B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47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59B3-1E52-2A45-88D3-FE727928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02D39-EB8A-3831-1E82-F60824CC3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8BA12-0572-578F-B267-C19C3195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C1321-8337-8EAD-8A35-F1E4C1E0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6C5EE-8261-335D-3D33-2541B2D6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88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EB140F-037A-65B6-3DAA-15362FD0E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0A8C4-B118-DEBE-21B6-8B66EEE9F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CBBB9-CDD2-C878-6D33-A594765E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DBBF9-004A-1141-BA36-16336205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7E638-AC05-9708-226C-96ABF988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BA2D7"/>
            </a:gs>
            <a:gs pos="30000">
              <a:srgbClr val="5ACCEB"/>
            </a:gs>
            <a:gs pos="85000">
              <a:srgbClr val="D2E0EF"/>
            </a:gs>
            <a:gs pos="69000">
              <a:srgbClr val="CDDFEB"/>
            </a:gs>
            <a:gs pos="100000">
              <a:srgbClr val="00ABC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954E3-FB37-73F2-385E-0CF84CEA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9D037-73CE-9FAF-23E2-1E3D9BA4B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58A5B-B7E2-7392-A046-44B5D32AC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85B4C-9013-45C0-BF32-24F51937940A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B9F55-5D91-95BB-3DB6-E489F0C95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14D9-76BB-C2CF-A4A3-32ED922B6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575C3-F6E7-4407-9707-1D4948BE3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2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sv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17/06/relationships/model3d" Target="../media/model3d1.glb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microsoft.com/office/2017/06/relationships/model3d" Target="../media/model3d1.glb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microsoft.com/office/2017/06/relationships/model3d" Target="../media/model3d1.glb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3BA2D7"/>
            </a:gs>
            <a:gs pos="30000">
              <a:srgbClr val="5ACCEB"/>
            </a:gs>
            <a:gs pos="85000">
              <a:srgbClr val="7BD2EE"/>
            </a:gs>
            <a:gs pos="69000">
              <a:srgbClr val="95D8F2"/>
            </a:gs>
            <a:gs pos="100000">
              <a:srgbClr val="00ABC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FD0A8BE4-018A-2F41-9DC4-79620B0DDF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07467037"/>
                  </p:ext>
                </p:extLst>
              </p:nvPr>
            </p:nvGraphicFramePr>
            <p:xfrm>
              <a:off x="299882" y="428743"/>
              <a:ext cx="11786572" cy="471462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786572" cy="4714625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747969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FD0A8BE4-018A-2F41-9DC4-79620B0DD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882" y="428743"/>
                <a:ext cx="11786572" cy="4714625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20EFF42E-ED7E-5B5C-789C-5CA912366722}"/>
              </a:ext>
            </a:extLst>
          </p:cNvPr>
          <p:cNvSpPr txBox="1"/>
          <p:nvPr/>
        </p:nvSpPr>
        <p:spPr>
          <a:xfrm>
            <a:off x="2802191" y="81647"/>
            <a:ext cx="65679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/>
              <a:t>✈️  </a:t>
            </a:r>
            <a:r>
              <a:rPr lang="en-US" sz="3000" dirty="0">
                <a:solidFill>
                  <a:srgbClr val="090970"/>
                </a:solidFill>
                <a:latin typeface="Wide Latin" panose="020A0A07050505020404" pitchFamily="18" charset="0"/>
              </a:rPr>
              <a:t>HIGH  CLOUD</a:t>
            </a:r>
            <a:r>
              <a:rPr lang="en-IN" sz="3200" dirty="0"/>
              <a:t>☁️</a:t>
            </a:r>
            <a:r>
              <a:rPr lang="en-US" sz="3000" dirty="0">
                <a:solidFill>
                  <a:srgbClr val="090970"/>
                </a:solidFill>
                <a:latin typeface="Wide Latin" panose="020A0A07050505020404" pitchFamily="18" charset="0"/>
              </a:rPr>
              <a:t> </a:t>
            </a:r>
          </a:p>
          <a:p>
            <a:pPr algn="ctr"/>
            <a:r>
              <a:rPr lang="en-IN" sz="3000" dirty="0"/>
              <a:t>🧰</a:t>
            </a:r>
            <a:r>
              <a:rPr lang="en-US" sz="3000" dirty="0">
                <a:solidFill>
                  <a:srgbClr val="090970"/>
                </a:solidFill>
                <a:latin typeface="Wide Latin" panose="020A0A07050505020404" pitchFamily="18" charset="0"/>
              </a:rPr>
              <a:t>ANALYSIS </a:t>
            </a:r>
            <a:r>
              <a:rPr lang="en-IN" sz="3000" dirty="0"/>
              <a:t> 📊</a:t>
            </a:r>
            <a:endParaRPr lang="en-IN" sz="3000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B969E0-312F-C6CB-0C89-92A2FF620D19}"/>
              </a:ext>
            </a:extLst>
          </p:cNvPr>
          <p:cNvSpPr txBox="1"/>
          <p:nvPr/>
        </p:nvSpPr>
        <p:spPr>
          <a:xfrm>
            <a:off x="299882" y="4474800"/>
            <a:ext cx="2585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90970"/>
                </a:solidFill>
                <a:latin typeface="Bodoni MT Black" panose="02070A03080606020203" pitchFamily="18" charset="0"/>
              </a:rPr>
              <a:t>Group –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C98D9F-E5D9-DA4E-0072-088434A29E21}"/>
              </a:ext>
            </a:extLst>
          </p:cNvPr>
          <p:cNvSpPr txBox="1"/>
          <p:nvPr/>
        </p:nvSpPr>
        <p:spPr>
          <a:xfrm>
            <a:off x="8261568" y="4998020"/>
            <a:ext cx="37411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90970"/>
                </a:solidFill>
                <a:effectLst/>
                <a:latin typeface="Tw Cen MT Condensed Extra Bold" panose="020B0803020202020204" pitchFamily="34" charset="0"/>
              </a:rPr>
              <a:t>Riddhi Dand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90970"/>
                </a:solidFill>
                <a:effectLst/>
                <a:latin typeface="Tw Cen MT Condensed Extra Bold" panose="020B0803020202020204" pitchFamily="34" charset="0"/>
              </a:rPr>
              <a:t>KAMPALLY SAI PAVAN KUMAR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90970"/>
                </a:solidFill>
                <a:effectLst/>
                <a:latin typeface="Tw Cen MT Condensed Extra Bold" panose="020B0803020202020204" pitchFamily="34" charset="0"/>
              </a:rPr>
              <a:t>Ketan Balasaheb Gudaghe</a:t>
            </a:r>
            <a:endParaRPr lang="en-IN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90970"/>
                </a:solidFill>
                <a:effectLst/>
                <a:latin typeface="Tw Cen MT Condensed Extra Bold" panose="020B0803020202020204" pitchFamily="34" charset="0"/>
              </a:rPr>
              <a:t>Yogesh Laxman Rajurkar</a:t>
            </a:r>
            <a:endParaRPr lang="en-US" sz="2000" b="1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Tanikonda Laxman Teja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E93E6E8-2956-A2A0-CBF9-E2054F6C56A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0CBDF9C-AB6D-EB34-BB73-74324F2A4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303" y="0"/>
            <a:ext cx="1499428" cy="149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802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C15D-1575-21D5-CFA0-C6EFFB079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D2840CA8-2892-2EC2-D5AD-1DE5D5B4770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05595618"/>
                  </p:ext>
                </p:extLst>
              </p:nvPr>
            </p:nvGraphicFramePr>
            <p:xfrm>
              <a:off x="513730" y="0"/>
              <a:ext cx="11164539" cy="36772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164539" cy="3677265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955489" ay="-730059" az="20649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D2840CA8-2892-2EC2-D5AD-1DE5D5B477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730" y="0"/>
                <a:ext cx="11164539" cy="3677265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D2667AEF-163D-70FF-E613-3236EEB47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CEF399-D25E-47E7-D13E-60D9FECA66EA}"/>
              </a:ext>
            </a:extLst>
          </p:cNvPr>
          <p:cNvSpPr txBox="1"/>
          <p:nvPr/>
        </p:nvSpPr>
        <p:spPr>
          <a:xfrm>
            <a:off x="1774720" y="195589"/>
            <a:ext cx="8146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✈️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Project Overview – High Clouds Analysis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84302-10ED-105A-7BB5-F37C077D48AB}"/>
              </a:ext>
            </a:extLst>
          </p:cNvPr>
          <p:cNvSpPr txBox="1"/>
          <p:nvPr/>
        </p:nvSpPr>
        <p:spPr>
          <a:xfrm>
            <a:off x="221223" y="4005184"/>
            <a:ext cx="9699525" cy="2241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w Cen MT Condensed Extra Bold" panose="020B0803020202020204" pitchFamily="34" charset="0"/>
              </a:rPr>
              <a:t>✈️ The High Clouds Case Study explores real flight data to extract airline KPIs.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w Cen MT Condensed Extra Bold" panose="020B0803020202020204" pitchFamily="34" charset="0"/>
              </a:rPr>
              <a:t>📊 Focuses on trends in load factors, route efficiency, and traveler behavior.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w Cen MT Condensed Extra Bold" panose="020B0803020202020204" pitchFamily="34" charset="0"/>
              </a:rPr>
              <a:t>🎯 Goal: Enable smarter, data-informed airline decisions.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w Cen MT Condensed Extra Bold" panose="020B0803020202020204" pitchFamily="34" charset="0"/>
              </a:rPr>
              <a:t>🧰 Tools: Excel, Power BI, SQL, Tableau used to reveal multi-angle insights.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2C65FB-C95C-E31F-8126-1CD541A074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748" y="3093171"/>
            <a:ext cx="1892711" cy="18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9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D6567-F5FB-4BA4-57E4-276432B9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2E7E4D57-825B-D299-C909-7155FEBAECF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46728836"/>
                  </p:ext>
                </p:extLst>
              </p:nvPr>
            </p:nvGraphicFramePr>
            <p:xfrm>
              <a:off x="513728" y="530941"/>
              <a:ext cx="11216156" cy="360843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216156" cy="3608439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3745101" ay="-2628939" az="3177862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2E7E4D57-825B-D299-C909-7155FEBAEC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728" y="530941"/>
                <a:ext cx="11216156" cy="3608439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1E7D592-5926-6675-0848-EF4C3876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D0F87A-9820-976C-0591-DB8C1AB45042}"/>
              </a:ext>
            </a:extLst>
          </p:cNvPr>
          <p:cNvSpPr txBox="1"/>
          <p:nvPr/>
        </p:nvSpPr>
        <p:spPr>
          <a:xfrm>
            <a:off x="2362732" y="215139"/>
            <a:ext cx="6938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🎯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Objectives – High Cloud Analysis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5BEC2-212E-45D2-ADC7-BB99F677C023}"/>
              </a:ext>
            </a:extLst>
          </p:cNvPr>
          <p:cNvSpPr txBox="1"/>
          <p:nvPr/>
        </p:nvSpPr>
        <p:spPr>
          <a:xfrm>
            <a:off x="184352" y="4226815"/>
            <a:ext cx="979784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🔍Uncover patterns in airline performance and passenger behavior through data-driven insights.</a:t>
            </a:r>
          </a:p>
          <a:p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📅Reveal how Load Factor % shifts across seasons, carriers, and time.</a:t>
            </a:r>
          </a:p>
          <a:p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🛫 Spotlight the sky’s busiest corridors and the airlines that own them.</a:t>
            </a:r>
          </a:p>
          <a:p>
            <a:r>
              <a:rPr lang="en-IN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📈Decode traveller behaviour—weekday rush vs weekend wanderlust</a:t>
            </a:r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.</a:t>
            </a:r>
          </a:p>
          <a:p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🌍 Compare performance patterns across geographies and markets.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FE70DF-022C-889C-E615-196B8C3D6D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88" y="3265537"/>
            <a:ext cx="1747686" cy="1747686"/>
          </a:xfrm>
          <a:prstGeom prst="rect">
            <a:avLst/>
          </a:prstGeom>
        </p:spPr>
      </p:pic>
      <p:pic>
        <p:nvPicPr>
          <p:cNvPr id="25" name="Graphic 24" descr="Target with solid fill">
            <a:extLst>
              <a:ext uri="{FF2B5EF4-FFF2-40B4-BE49-F238E27FC236}">
                <a16:creationId xmlns:a16="http://schemas.microsoft.com/office/drawing/2014/main" id="{7B3C30C9-EE81-4EC4-AA7E-3383367618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54543" y="215139"/>
            <a:ext cx="922501" cy="92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23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1D65E-2E21-2FED-BF7C-59D82CA0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1F27607A-246A-A17D-7472-BFBD258CA8E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74011728"/>
                  </p:ext>
                </p:extLst>
              </p:nvPr>
            </p:nvGraphicFramePr>
            <p:xfrm>
              <a:off x="529246" y="195589"/>
              <a:ext cx="11164539" cy="413938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164539" cy="4139381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2378202" ay="-3366112" az="-207070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1F27607A-246A-A17D-7472-BFBD258CA8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246" y="195589"/>
                <a:ext cx="11164539" cy="4139381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115BD582-A2C8-E1A8-5001-BC9C2D30B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B575E8-A48D-E172-05F8-9CA4F0E25AAC}"/>
              </a:ext>
            </a:extLst>
          </p:cNvPr>
          <p:cNvSpPr txBox="1"/>
          <p:nvPr/>
        </p:nvSpPr>
        <p:spPr>
          <a:xfrm>
            <a:off x="2556388" y="195589"/>
            <a:ext cx="7384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🧪 </a:t>
            </a:r>
            <a:r>
              <a:rPr lang="en-IN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Methodology</a:t>
            </a:r>
            <a:r>
              <a:rPr lang="en-IN" sz="3200" dirty="0">
                <a:solidFill>
                  <a:srgbClr val="090970"/>
                </a:solidFill>
                <a:latin typeface="Berlin Sans FB Demi" panose="020E0802020502020306" pitchFamily="34" charset="0"/>
              </a:rPr>
              <a:t> 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– High Cloud Analysis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A735D-ECFC-E843-BDE5-51EDB1A13AA5}"/>
              </a:ext>
            </a:extLst>
          </p:cNvPr>
          <p:cNvSpPr txBox="1"/>
          <p:nvPr/>
        </p:nvSpPr>
        <p:spPr>
          <a:xfrm>
            <a:off x="90945" y="4033726"/>
            <a:ext cx="120101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🟦</a:t>
            </a:r>
            <a:r>
              <a:rPr lang="en-US" sz="22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Excel:</a:t>
            </a:r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Extract KPIs from the given data and craft a compelling dashboard to visualize key insights.</a:t>
            </a:r>
          </a:p>
          <a:p>
            <a:r>
              <a:rPr lang="en-IN" sz="2200" dirty="0"/>
              <a:t>🟨</a:t>
            </a:r>
            <a:r>
              <a:rPr lang="en-US" sz="22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SQL:</a:t>
            </a:r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Structure the necessary data by creating custom columns and pulling the required information through tailored SELECT queries.</a:t>
            </a:r>
          </a:p>
          <a:p>
            <a:r>
              <a:rPr lang="en-IN" sz="2200" dirty="0"/>
              <a:t>🟥</a:t>
            </a:r>
            <a:r>
              <a:rPr lang="en-US" sz="22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Power BI:</a:t>
            </a:r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Build dynamic measures and interactive dashboards to explore and highlight critical performance trends.</a:t>
            </a:r>
          </a:p>
          <a:p>
            <a:r>
              <a:rPr lang="en-IN" sz="2200" dirty="0"/>
              <a:t>🟪</a:t>
            </a:r>
            <a:r>
              <a:rPr lang="en-US" sz="22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Tableau:</a:t>
            </a:r>
            <a:r>
              <a:rPr lang="en-US" sz="22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Use calculated fields to derive insightful KPIs and design dynamic dashboards with engaging KPI cards and filter options for in-depth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A857B-B8B2-51B2-7298-D08D14A13C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374" y="1214521"/>
            <a:ext cx="1232411" cy="12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173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3E26-8853-490C-0C25-DF3019B9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AA625740-658F-E33F-88BE-A1DE3974D57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99086233"/>
                  </p:ext>
                </p:extLst>
              </p:nvPr>
            </p:nvGraphicFramePr>
            <p:xfrm>
              <a:off x="513728" y="0"/>
              <a:ext cx="11164539" cy="411971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1164539" cy="4119716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2647805" ay="-2399231" az="-191634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AA625740-658F-E33F-88BE-A1DE3974D57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728" y="0"/>
                <a:ext cx="11164539" cy="4119716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AC320DE6-369A-A60B-48F8-879645D10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98EEFF-F905-EC13-1DCE-F09A3B838D8F}"/>
              </a:ext>
            </a:extLst>
          </p:cNvPr>
          <p:cNvSpPr txBox="1"/>
          <p:nvPr/>
        </p:nvSpPr>
        <p:spPr>
          <a:xfrm>
            <a:off x="3814915" y="178356"/>
            <a:ext cx="3549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📌 </a:t>
            </a:r>
            <a:r>
              <a:rPr lang="en-IN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KPIs - Tracked</a:t>
            </a:r>
            <a:endParaRPr lang="en-IN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21F14D-BA40-A4E8-98D9-A3CE8BBB2FCE}"/>
              </a:ext>
            </a:extLst>
          </p:cNvPr>
          <p:cNvSpPr txBox="1"/>
          <p:nvPr/>
        </p:nvSpPr>
        <p:spPr>
          <a:xfrm>
            <a:off x="585547" y="4584393"/>
            <a:ext cx="57567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✅</a:t>
            </a:r>
            <a:r>
              <a:rPr lang="en-IN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Load Factor % (Time-based)</a:t>
            </a:r>
          </a:p>
          <a:p>
            <a:r>
              <a:rPr lang="en-IN" sz="2800" dirty="0"/>
              <a:t>✅</a:t>
            </a:r>
            <a:r>
              <a:rPr lang="en-IN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Load Factor % by Carrier</a:t>
            </a:r>
          </a:p>
          <a:p>
            <a:r>
              <a:rPr lang="en-IN" sz="2800" dirty="0"/>
              <a:t>✅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Top 10 Carriers by Passenger Volume</a:t>
            </a:r>
          </a:p>
          <a:p>
            <a:r>
              <a:rPr lang="en-IN" sz="2800" dirty="0"/>
              <a:t>✅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Top Routes by Flight 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34FD1-4D9E-FB51-DF07-8BFA137FC55F}"/>
              </a:ext>
            </a:extLst>
          </p:cNvPr>
          <p:cNvSpPr txBox="1"/>
          <p:nvPr/>
        </p:nvSpPr>
        <p:spPr>
          <a:xfrm>
            <a:off x="6656438" y="4799836"/>
            <a:ext cx="5166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✅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Load Factor: Weekday vs Weekend</a:t>
            </a:r>
          </a:p>
          <a:p>
            <a:r>
              <a:rPr lang="en-IN" sz="2800" dirty="0"/>
              <a:t>✅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Flights Distribution by Distance Group</a:t>
            </a:r>
          </a:p>
          <a:p>
            <a:r>
              <a:rPr lang="en-IN" sz="2800" dirty="0"/>
              <a:t>✅</a:t>
            </a:r>
            <a:r>
              <a:rPr lang="en-IN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Route Lookup via Geography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7E053-0D07-B2C5-1ADA-8D95C3EA33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4645" y="178356"/>
            <a:ext cx="1115962" cy="11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73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2582-B24C-8EE4-D680-513D87C74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1584C01B-6BBF-DBF4-37A6-9CDBF3A24DD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32627531"/>
                  </p:ext>
                </p:extLst>
              </p:nvPr>
            </p:nvGraphicFramePr>
            <p:xfrm>
              <a:off x="235971" y="688257"/>
              <a:ext cx="5240593" cy="428759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240593" cy="4287597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1091614" ay="-885857" az="-28728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1584C01B-6BBF-DBF4-37A6-9CDBF3A24D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971" y="688257"/>
                <a:ext cx="5240593" cy="4287597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4E8D56A-A193-2F8F-31A4-6E76286C1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E9BBC7-2F47-A556-A684-4EE98E8FB296}"/>
              </a:ext>
            </a:extLst>
          </p:cNvPr>
          <p:cNvSpPr txBox="1"/>
          <p:nvPr/>
        </p:nvSpPr>
        <p:spPr>
          <a:xfrm>
            <a:off x="1874807" y="163494"/>
            <a:ext cx="8172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🗓️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Load Factor - Yearly/Quarterly/Monthly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C41CF-FCE2-3EF8-1C2A-6D1438177AA3}"/>
              </a:ext>
            </a:extLst>
          </p:cNvPr>
          <p:cNvSpPr txBox="1"/>
          <p:nvPr/>
        </p:nvSpPr>
        <p:spPr>
          <a:xfrm>
            <a:off x="235971" y="5323808"/>
            <a:ext cx="118429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Load Factor = Transported Passengers / Available Seats.</a:t>
            </a:r>
            <a:b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</a:b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Insight:</a:t>
            </a: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Average load factor has shown a steady upward trend from 2009 to 2013, rising from </a:t>
            </a: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53.56% to 55.41%</a:t>
            </a: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. The dip in 2012 suggests a temporary efficiency drop, but the recovery in 2013 indicates renewed growth.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D439F6-E110-9D15-F4FE-625D42C300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248" y="39292"/>
            <a:ext cx="833180" cy="8331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109DFC-6BEC-A487-CFE0-8BED3F4C1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593" y="1220426"/>
            <a:ext cx="5565398" cy="29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1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AD21-4B84-586D-B6DE-1516E9AC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599C4C37-1D12-D070-0B1A-DA4C789886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51631856"/>
                  </p:ext>
                </p:extLst>
              </p:nvPr>
            </p:nvGraphicFramePr>
            <p:xfrm>
              <a:off x="6862916" y="953729"/>
              <a:ext cx="5840361" cy="3372466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840361" cy="3372466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642479" ay="-2473749" az="426197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599C4C37-1D12-D070-0B1A-DA4C789886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62916" y="953729"/>
                <a:ext cx="5840361" cy="3372466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57122F3-C345-E39B-5F7E-2194FB5E3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19D3B8-7AA8-3D3E-C7BD-E7F16CCB7776}"/>
              </a:ext>
            </a:extLst>
          </p:cNvPr>
          <p:cNvSpPr txBox="1"/>
          <p:nvPr/>
        </p:nvSpPr>
        <p:spPr>
          <a:xfrm>
            <a:off x="2192594" y="190672"/>
            <a:ext cx="670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✈️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Load Factor % by Carrier Insight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64814-785E-10AB-4F9C-72AAD22FE21E}"/>
              </a:ext>
            </a:extLst>
          </p:cNvPr>
          <p:cNvSpPr txBox="1"/>
          <p:nvPr/>
        </p:nvSpPr>
        <p:spPr>
          <a:xfrm>
            <a:off x="90948" y="4989474"/>
            <a:ext cx="12010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Insight: Globespan Airways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leads with a stellar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90.10%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load factor, closely followed by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Corsair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and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Skyservice Airlines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all exceeding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88% efficiency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. In contrast, carriers like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Jetstar Airways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and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Allegiant Air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fall below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83%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highlighting potential areas for operational improvement.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599A7C-46DF-645E-F450-0E675CC41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07" y="1655534"/>
            <a:ext cx="6873836" cy="2453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9DFD6-11BF-F3FC-D19C-B3C7C49726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961" y="0"/>
            <a:ext cx="1130710" cy="113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98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D5BA-7702-D9E3-0BEA-060C7B162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F11E5A80-C3AD-3011-CC76-3CBD4250F64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35405261"/>
                  </p:ext>
                </p:extLst>
              </p:nvPr>
            </p:nvGraphicFramePr>
            <p:xfrm>
              <a:off x="34404" y="775448"/>
              <a:ext cx="6410632" cy="353449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410632" cy="3534498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4280105" ay="-5337058" az="-4279964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F11E5A80-C3AD-3011-CC76-3CBD4250F6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04" y="775448"/>
                <a:ext cx="6410632" cy="3534498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DD7EB8FD-4BC3-FD1A-7104-BC7811D1C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17F9C0-69C5-B038-E844-19E5F5459786}"/>
              </a:ext>
            </a:extLst>
          </p:cNvPr>
          <p:cNvSpPr txBox="1"/>
          <p:nvPr/>
        </p:nvSpPr>
        <p:spPr>
          <a:xfrm>
            <a:off x="1628997" y="179540"/>
            <a:ext cx="81693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🧑‍🤝‍🧑 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Top 10 Carriers by Passenger Preference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7BC203-DAFE-947D-9174-BE64E0AB4A9B}"/>
              </a:ext>
            </a:extLst>
          </p:cNvPr>
          <p:cNvSpPr txBox="1"/>
          <p:nvPr/>
        </p:nvSpPr>
        <p:spPr>
          <a:xfrm>
            <a:off x="181896" y="4990974"/>
            <a:ext cx="120101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The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top 5 carriers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led by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Southwest Airlines (34.1M passengers)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and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Delta Air Lines (28.8M)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account for the vast majority of total passengers. This dominance underscores strong brand loyalty, extensive route networks, and competitive pricing strategies.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6603B-80C0-ACD7-810A-34564DB6E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605" y="1177314"/>
            <a:ext cx="5422999" cy="308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79444-7B98-6ED2-5BF6-6EE9BE7B0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722" y="113118"/>
            <a:ext cx="739884" cy="73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5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7EFF-FF26-1179-E93F-E83CDC7D4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29F2E85C-2B88-6A21-1AF1-9D2F5537C3A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82336607"/>
                  </p:ext>
                </p:extLst>
              </p:nvPr>
            </p:nvGraphicFramePr>
            <p:xfrm>
              <a:off x="-830810" y="483060"/>
              <a:ext cx="7595428" cy="3956019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595428" cy="3956019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7864996" ay="-3328103" az="-8197400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29F2E85C-2B88-6A21-1AF1-9D2F5537C3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30810" y="483060"/>
                <a:ext cx="7595428" cy="3956019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E55243A-7225-5441-8630-8093F8ED3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1447F-6235-380A-EABE-0B51BDBD2DB4}"/>
              </a:ext>
            </a:extLst>
          </p:cNvPr>
          <p:cNvSpPr txBox="1"/>
          <p:nvPr/>
        </p:nvSpPr>
        <p:spPr>
          <a:xfrm>
            <a:off x="2286882" y="190672"/>
            <a:ext cx="6699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🏆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Top Routes (From</a:t>
            </a:r>
            <a:r>
              <a:rPr lang="en-IN" sz="3200" dirty="0"/>
              <a:t>🛫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-To City</a:t>
            </a:r>
            <a:r>
              <a:rPr lang="en-IN" sz="3200" dirty="0"/>
              <a:t>🛬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)</a:t>
            </a:r>
            <a:r>
              <a:rPr lang="en-US" sz="3200" dirty="0">
                <a:solidFill>
                  <a:srgbClr val="090970"/>
                </a:solidFill>
                <a:latin typeface="Berlin Sans FB Demi" panose="020E0802020502020306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189D7-29FE-660D-836F-FC8D1F4D62B6}"/>
              </a:ext>
            </a:extLst>
          </p:cNvPr>
          <p:cNvSpPr txBox="1"/>
          <p:nvPr/>
        </p:nvSpPr>
        <p:spPr>
          <a:xfrm>
            <a:off x="181896" y="4703075"/>
            <a:ext cx="120101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Route analysis of the top 5 Routes pairs reveals that </a:t>
            </a:r>
            <a:r>
              <a:rPr lang="en-US" sz="26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New York City is featured in every route</a:t>
            </a:r>
            <a:r>
              <a:rPr lang="en-US" sz="26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either as origin or destination. This underscores its dominance in U.S. air traffic and signals strong demand—ideal for route optimization, pricing strategies, and capacity planning.</a:t>
            </a:r>
            <a:endParaRPr lang="en-IN" sz="26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6DE21-2127-6E39-100F-1DC989AC4A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618" y="1862928"/>
            <a:ext cx="5014395" cy="192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016F87-6D5F-98CA-48F8-416CCBBC89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750" y="286905"/>
            <a:ext cx="1150716" cy="115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85163-A384-A5E9-129A-225CE217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B4562568-6B0E-9992-FE20-A771DB35DFD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67842593"/>
                  </p:ext>
                </p:extLst>
              </p:nvPr>
            </p:nvGraphicFramePr>
            <p:xfrm>
              <a:off x="4057417" y="190673"/>
              <a:ext cx="7849449" cy="455039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849449" cy="4550390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7469999" ay="-3671808" az="7686432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B4562568-6B0E-9992-FE20-A771DB35DF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57417" y="190673"/>
                <a:ext cx="7849449" cy="455039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5C14FFF1-9B3E-215B-8182-6D093C66A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AE2A7A-DD65-08E5-2C80-3AFE52EC3370}"/>
              </a:ext>
            </a:extLst>
          </p:cNvPr>
          <p:cNvSpPr txBox="1"/>
          <p:nvPr/>
        </p:nvSpPr>
        <p:spPr>
          <a:xfrm>
            <a:off x="1784167" y="195589"/>
            <a:ext cx="78494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🕒 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Weekday</a:t>
            </a:r>
            <a:r>
              <a:rPr lang="en-IN" sz="3200" dirty="0"/>
              <a:t> 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vs </a:t>
            </a:r>
            <a:r>
              <a:rPr lang="en-IN" sz="3200" dirty="0"/>
              <a:t>⛱️ </a:t>
            </a:r>
            <a:r>
              <a:rPr lang="en-US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Weekend Load Factor</a:t>
            </a:r>
            <a:endParaRPr lang="en-US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CEE20-C7A0-036B-F792-6E00B8954366}"/>
              </a:ext>
            </a:extLst>
          </p:cNvPr>
          <p:cNvSpPr txBox="1"/>
          <p:nvPr/>
        </p:nvSpPr>
        <p:spPr>
          <a:xfrm>
            <a:off x="181896" y="4741063"/>
            <a:ext cx="1201010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Weekday flights account for over 71% of total load</a:t>
            </a:r>
            <a:r>
              <a:rPr lang="en-US" sz="26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indicating stronger demand likely driven by business travel. In contrast, weekends contribute just under 29%, reflecting a dip in occupancy. This trend highlights an opportunity to boost weekend traffic through targeted leisure promotions.</a:t>
            </a:r>
            <a:endParaRPr lang="en-IN" sz="26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BB41E-4BAE-0A59-4F2A-4300A1391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793" y="-46767"/>
            <a:ext cx="941865" cy="941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4359A3-F02E-D2AE-9314-171EEF6BA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134" y="1321410"/>
            <a:ext cx="3957564" cy="308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50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8AA7-1C61-0709-2F21-77070767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097D2FBF-F149-27B3-84FB-A5F7800C85E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9176420"/>
                  </p:ext>
                </p:extLst>
              </p:nvPr>
            </p:nvGraphicFramePr>
            <p:xfrm>
              <a:off x="-334297" y="218871"/>
              <a:ext cx="8106322" cy="390846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8106322" cy="3908465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3312570" ay="-3554003" az="-306252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097D2FBF-F149-27B3-84FB-A5F7800C85E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34297" y="218871"/>
                <a:ext cx="8106322" cy="3908465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8565FC7-A416-6EDE-A3DE-AF85DC92A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CF32FB-6BCB-6E2D-AF66-B60F5E984236}"/>
              </a:ext>
            </a:extLst>
          </p:cNvPr>
          <p:cNvSpPr txBox="1"/>
          <p:nvPr/>
        </p:nvSpPr>
        <p:spPr>
          <a:xfrm>
            <a:off x="2792361" y="90637"/>
            <a:ext cx="5899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🗺️ </a:t>
            </a:r>
            <a:r>
              <a:rPr lang="en-IN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Flights by Distance Group</a:t>
            </a:r>
            <a:endParaRPr lang="en-IN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4579D1-64D0-A902-2833-3BCF610A8226}"/>
              </a:ext>
            </a:extLst>
          </p:cNvPr>
          <p:cNvSpPr txBox="1"/>
          <p:nvPr/>
        </p:nvSpPr>
        <p:spPr>
          <a:xfrm>
            <a:off x="183742" y="4237173"/>
            <a:ext cx="77035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Short-haul flights dominate the network—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flights under 1500 miles make up over 88% of total trips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, with the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&lt;500-mile segment alone accounting for more than 50%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. These routes are ideal for increasing frequency, optimizing fleet deployment, and enhancing connectivity.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FE6CE1-6882-9B96-21F0-65F30EE62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7317" y="1275491"/>
            <a:ext cx="4130398" cy="4663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263C6A-9342-2359-3B5F-3F52C7DCD8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366" y="153756"/>
            <a:ext cx="884905" cy="88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15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D98D-B6F3-41E4-9BB7-1407CA69F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67B40D-4523-D7EF-008F-46929FEA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65" y="1779638"/>
            <a:ext cx="2784717" cy="120691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F43035FB-AE29-0732-2DE1-FDFA54816F1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15702232"/>
                  </p:ext>
                </p:extLst>
              </p:nvPr>
            </p:nvGraphicFramePr>
            <p:xfrm>
              <a:off x="-34404" y="-22226"/>
              <a:ext cx="12226404" cy="6858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2226404" cy="6858000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5128701" ay="-5125688" az="5127806"/>
                    <am3d:postTrans dx="0" dy="0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F43035FB-AE29-0732-2DE1-FDFA54816F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4404" y="-22226"/>
                <a:ext cx="12226404" cy="6858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C29F947-E763-4E38-9778-CEBBC1741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C293FE-E26F-82DB-DE13-06EA5A8B059A}"/>
              </a:ext>
            </a:extLst>
          </p:cNvPr>
          <p:cNvSpPr txBox="1"/>
          <p:nvPr/>
        </p:nvSpPr>
        <p:spPr>
          <a:xfrm>
            <a:off x="2381594" y="151785"/>
            <a:ext cx="7165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📊 </a:t>
            </a:r>
            <a:r>
              <a:rPr lang="en-IN" sz="3200" b="1" dirty="0">
                <a:solidFill>
                  <a:srgbClr val="090970"/>
                </a:solidFill>
                <a:latin typeface="Bodoni MT Black" panose="02070A03080606020203" pitchFamily="18" charset="0"/>
              </a:rPr>
              <a:t>Dashboard Summary</a:t>
            </a:r>
            <a:r>
              <a:rPr lang="en-IN" sz="3200" dirty="0">
                <a:solidFill>
                  <a:srgbClr val="090970"/>
                </a:solidFill>
                <a:latin typeface="Bodoni MT Black" panose="02070A03080606020203" pitchFamily="18" charset="0"/>
              </a:rPr>
              <a:t> </a:t>
            </a:r>
            <a:r>
              <a:rPr lang="en-IN" sz="3200" b="1" dirty="0">
                <a:solidFill>
                  <a:srgbClr val="090970"/>
                </a:solidFill>
                <a:latin typeface="Bodoni MT Black" panose="02070A03080606020203" pitchFamily="18" charset="0"/>
              </a:rPr>
              <a:t>Features</a:t>
            </a:r>
            <a:endParaRPr lang="en-IN" sz="3200" dirty="0">
              <a:solidFill>
                <a:srgbClr val="090970"/>
              </a:solidFill>
              <a:latin typeface="Bodoni MT Black" panose="02070A030806060202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574BC-5507-2E51-CFC3-827840204AAA}"/>
              </a:ext>
            </a:extLst>
          </p:cNvPr>
          <p:cNvSpPr txBox="1"/>
          <p:nvPr/>
        </p:nvSpPr>
        <p:spPr>
          <a:xfrm>
            <a:off x="902729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90970"/>
                </a:solidFill>
                <a:latin typeface="Wide Latin" panose="020A0A07050505020404" pitchFamily="18" charset="0"/>
              </a:rPr>
              <a:t>EXCEL</a:t>
            </a:r>
            <a:endParaRPr lang="en-IN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BEF9D3-2DCE-A066-14F2-ED0DD002AC95}"/>
              </a:ext>
            </a:extLst>
          </p:cNvPr>
          <p:cNvSpPr txBox="1"/>
          <p:nvPr/>
        </p:nvSpPr>
        <p:spPr>
          <a:xfrm>
            <a:off x="4022431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90970"/>
                </a:solidFill>
                <a:latin typeface="Wide Latin" panose="020A0A07050505020404" pitchFamily="18" charset="0"/>
              </a:rPr>
              <a:t>POWER BI</a:t>
            </a:r>
            <a:endParaRPr lang="en-IN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20580-87F0-5480-CD54-536BA1AB0B8B}"/>
              </a:ext>
            </a:extLst>
          </p:cNvPr>
          <p:cNvSpPr txBox="1"/>
          <p:nvPr/>
        </p:nvSpPr>
        <p:spPr>
          <a:xfrm>
            <a:off x="7040442" y="1396180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90970"/>
                </a:solidFill>
                <a:latin typeface="Wide Latin" panose="020A0A07050505020404" pitchFamily="18" charset="0"/>
              </a:rPr>
              <a:t>TABLEAU</a:t>
            </a:r>
            <a:endParaRPr lang="en-IN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49BBA3-41AD-F0FC-7A15-0BB4A654C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828" y="1769251"/>
            <a:ext cx="2159924" cy="1217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0E67BE-4343-572C-24B9-2B13851E2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280" y="1779637"/>
            <a:ext cx="1997043" cy="12069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576BCA-5169-3BCD-224F-945C4228D805}"/>
              </a:ext>
            </a:extLst>
          </p:cNvPr>
          <p:cNvSpPr txBox="1"/>
          <p:nvPr/>
        </p:nvSpPr>
        <p:spPr>
          <a:xfrm>
            <a:off x="331843" y="5636705"/>
            <a:ext cx="1149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We used the same airline dataset across Excel, Power BI, and Tableau to showcase tool versatility.</a:t>
            </a:r>
            <a:b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</a:b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Each dashboard delivers the same KPIs, proving powerful insights come from data, not just tools.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060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E8A4-2BA4-53D3-5F46-7BE05257F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FD67F5F-9020-DEA6-E87A-E3D00299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0B16E2-44E7-8CF9-B1D2-F88BEABC09D4}"/>
              </a:ext>
            </a:extLst>
          </p:cNvPr>
          <p:cNvSpPr txBox="1"/>
          <p:nvPr/>
        </p:nvSpPr>
        <p:spPr>
          <a:xfrm>
            <a:off x="4481671" y="252444"/>
            <a:ext cx="2784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90970"/>
                </a:solidFill>
                <a:latin typeface="Wide Latin" panose="020A0A07050505020404" pitchFamily="18" charset="0"/>
              </a:rPr>
              <a:t>EXCEL</a:t>
            </a:r>
            <a:endParaRPr lang="en-IN" sz="2800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419378-8BC4-BC0D-E956-2E17E0FDD243}"/>
              </a:ext>
            </a:extLst>
          </p:cNvPr>
          <p:cNvSpPr txBox="1"/>
          <p:nvPr/>
        </p:nvSpPr>
        <p:spPr>
          <a:xfrm>
            <a:off x="4022431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90970"/>
                </a:solidFill>
                <a:latin typeface="Wide Latin" panose="020A0A07050505020404" pitchFamily="18" charset="0"/>
              </a:rPr>
              <a:t>POWER BI</a:t>
            </a:r>
            <a:endParaRPr lang="en-IN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9BAF3-9987-E1EC-B5C2-D59995507BAB}"/>
              </a:ext>
            </a:extLst>
          </p:cNvPr>
          <p:cNvSpPr txBox="1"/>
          <p:nvPr/>
        </p:nvSpPr>
        <p:spPr>
          <a:xfrm>
            <a:off x="7040442" y="1396180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90970"/>
                </a:solidFill>
                <a:latin typeface="Wide Latin" panose="020A0A07050505020404" pitchFamily="18" charset="0"/>
              </a:rPr>
              <a:t>TABLEAU</a:t>
            </a:r>
            <a:endParaRPr lang="en-IN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34B8A8-1A32-C8BF-7AF3-3F1242EFE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828" y="1769251"/>
            <a:ext cx="2159924" cy="1217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5EADAC-AF03-EFBA-C7C4-3ABE4658C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280" y="1779637"/>
            <a:ext cx="1997043" cy="12069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E02E72-9ABA-1290-7E77-BE2DC2B7F56C}"/>
              </a:ext>
            </a:extLst>
          </p:cNvPr>
          <p:cNvSpPr txBox="1"/>
          <p:nvPr/>
        </p:nvSpPr>
        <p:spPr>
          <a:xfrm>
            <a:off x="349045" y="5561808"/>
            <a:ext cx="1149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Starting with Excel, we pulled the required KPIs using structured functions, derived time fields, and arranged visuals into a clear, digestible dashboard. Excel’s strength lies in its flexibility and familiarity, making it an excellent choice for quick, reliable analysis.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BB16F8-EB33-F3CC-CFD8-2B6CF6B62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48" y="953729"/>
            <a:ext cx="10704050" cy="443001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Airplane">
                <a:extLst>
                  <a:ext uri="{FF2B5EF4-FFF2-40B4-BE49-F238E27FC236}">
                    <a16:creationId xmlns:a16="http://schemas.microsoft.com/office/drawing/2014/main" id="{45D187BD-9CFE-2145-9059-0FC67D89154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61792059"/>
                  </p:ext>
                </p:extLst>
              </p:nvPr>
            </p:nvGraphicFramePr>
            <p:xfrm>
              <a:off x="10520516" y="-22226"/>
              <a:ext cx="1671483" cy="1801863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671483" cy="1801863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578346" ay="-969510" az="-162391"/>
                    <am3d:postTrans dx="0" dy="0" dz="0"/>
                  </am3d:trans>
                  <am3d:raster rName="Office3DRenderer" rVer="16.0.8326">
                    <am3d:blip r:embed="rId7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Airplane">
                <a:extLst>
                  <a:ext uri="{FF2B5EF4-FFF2-40B4-BE49-F238E27FC236}">
                    <a16:creationId xmlns:a16="http://schemas.microsoft.com/office/drawing/2014/main" id="{45D187BD-9CFE-2145-9059-0FC67D8915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20516" y="-22226"/>
                <a:ext cx="1671483" cy="18018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38E8EBB-EE89-35D1-8B5D-292EBDAB5F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331" y="252444"/>
            <a:ext cx="553340" cy="54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41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42C2-0256-D6E5-752C-650EAD659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6D370D-E4BA-769C-F1A5-B6A49A66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65" y="1779638"/>
            <a:ext cx="2784717" cy="12069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88D588-70FB-77EB-E78F-0CD7E12CA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FF98D8-1B01-F4AA-E4B1-5DF889EE19BE}"/>
              </a:ext>
            </a:extLst>
          </p:cNvPr>
          <p:cNvSpPr txBox="1"/>
          <p:nvPr/>
        </p:nvSpPr>
        <p:spPr>
          <a:xfrm>
            <a:off x="902729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Wide Latin" panose="020A0A07050505020404" pitchFamily="18" charset="0"/>
              </a:rPr>
              <a:t>EXCEL</a:t>
            </a:r>
            <a:endParaRPr lang="en-IN" dirty="0">
              <a:latin typeface="Wide Latin" panose="020A0A07050505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52A94-4739-7680-E436-0FA170B63988}"/>
              </a:ext>
            </a:extLst>
          </p:cNvPr>
          <p:cNvSpPr txBox="1"/>
          <p:nvPr/>
        </p:nvSpPr>
        <p:spPr>
          <a:xfrm>
            <a:off x="3645082" y="163706"/>
            <a:ext cx="3902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90970"/>
                </a:solidFill>
                <a:latin typeface="Wide Latin" panose="020A0A07050505020404" pitchFamily="18" charset="0"/>
              </a:rPr>
              <a:t>POWER BI</a:t>
            </a:r>
            <a:endParaRPr lang="en-IN" sz="2800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C62B33-2FC8-715A-4BAB-D5AF116C71B5}"/>
              </a:ext>
            </a:extLst>
          </p:cNvPr>
          <p:cNvSpPr txBox="1"/>
          <p:nvPr/>
        </p:nvSpPr>
        <p:spPr>
          <a:xfrm>
            <a:off x="7040442" y="1396180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Wide Latin" panose="020A0A07050505020404" pitchFamily="18" charset="0"/>
              </a:rPr>
              <a:t>TABLEAU</a:t>
            </a:r>
            <a:endParaRPr lang="en-IN" dirty="0">
              <a:latin typeface="Wide Latin" panose="020A0A070505050204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D0B589-3EE6-6A96-35C9-EFAF5F87E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280" y="1779637"/>
            <a:ext cx="1997043" cy="12069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33F2AB-805C-195E-DB48-F4DEA15814F9}"/>
              </a:ext>
            </a:extLst>
          </p:cNvPr>
          <p:cNvSpPr txBox="1"/>
          <p:nvPr/>
        </p:nvSpPr>
        <p:spPr>
          <a:xfrm>
            <a:off x="331843" y="5636705"/>
            <a:ext cx="1149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In Power BI, we built dynamic visuals using DAX measures, slicers, and filters. This dashboard allows users to interact with the data in real-time, tailoring insights by year, carrier, and distance groups. It’s ideal for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business users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needing agile decision support.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Airplane">
                <a:extLst>
                  <a:ext uri="{FF2B5EF4-FFF2-40B4-BE49-F238E27FC236}">
                    <a16:creationId xmlns:a16="http://schemas.microsoft.com/office/drawing/2014/main" id="{58D8B1EB-798F-709C-39BA-ECAA695ADAF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7331805"/>
                  </p:ext>
                </p:extLst>
              </p:nvPr>
            </p:nvGraphicFramePr>
            <p:xfrm>
              <a:off x="10009238" y="-22226"/>
              <a:ext cx="2182761" cy="2087000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182761" cy="2087000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-1638810" ay="-14631" az="7520"/>
                    <am3d:postTrans dx="0" dy="0" dz="0"/>
                  </am3d:trans>
                  <am3d:raster rName="Office3DRenderer" rVer="16.0.8326">
                    <am3d:blip r:embed="rId6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Airplane">
                <a:extLst>
                  <a:ext uri="{FF2B5EF4-FFF2-40B4-BE49-F238E27FC236}">
                    <a16:creationId xmlns:a16="http://schemas.microsoft.com/office/drawing/2014/main" id="{58D8B1EB-798F-709C-39BA-ECAA695ADA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09238" y="-22226"/>
                <a:ext cx="2182761" cy="2087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8DC5D9C-8997-6B58-AD1B-E57A38BCA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749" y="953729"/>
            <a:ext cx="9232489" cy="47040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6911A-8EFB-F171-93A5-64D127BAC0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630" y="135090"/>
            <a:ext cx="580452" cy="58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96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EC222-7431-A4FE-FB6F-66CA04F29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7AED4D-FFE1-52A2-02D7-9DDEB4FAD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65" y="1779638"/>
            <a:ext cx="2784717" cy="12069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C7CABD-3E4D-85D3-2477-B68BC072D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592303-F088-BCF8-8966-B0881025AEDB}"/>
              </a:ext>
            </a:extLst>
          </p:cNvPr>
          <p:cNvSpPr txBox="1"/>
          <p:nvPr/>
        </p:nvSpPr>
        <p:spPr>
          <a:xfrm>
            <a:off x="902729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Wide Latin" panose="020A0A07050505020404" pitchFamily="18" charset="0"/>
              </a:rPr>
              <a:t>EXCEL</a:t>
            </a:r>
            <a:endParaRPr lang="en-IN" dirty="0">
              <a:latin typeface="Wide Latin" panose="020A0A07050505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C8A8B-35A4-8810-B04A-B3D5077CFB9C}"/>
              </a:ext>
            </a:extLst>
          </p:cNvPr>
          <p:cNvSpPr txBox="1"/>
          <p:nvPr/>
        </p:nvSpPr>
        <p:spPr>
          <a:xfrm>
            <a:off x="4022431" y="1385794"/>
            <a:ext cx="2784717" cy="383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Wide Latin" panose="020A0A07050505020404" pitchFamily="18" charset="0"/>
              </a:rPr>
              <a:t>POWER BI</a:t>
            </a:r>
            <a:endParaRPr lang="en-IN" dirty="0">
              <a:latin typeface="Wide Latin" panose="020A0A07050505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3320A7-4D8A-EAF4-D3C9-3DB726182E2A}"/>
              </a:ext>
            </a:extLst>
          </p:cNvPr>
          <p:cNvSpPr txBox="1"/>
          <p:nvPr/>
        </p:nvSpPr>
        <p:spPr>
          <a:xfrm>
            <a:off x="3795946" y="141499"/>
            <a:ext cx="3678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90970"/>
                </a:solidFill>
                <a:latin typeface="Wide Latin" panose="020A0A07050505020404" pitchFamily="18" charset="0"/>
              </a:rPr>
              <a:t>TABLEAU</a:t>
            </a:r>
            <a:endParaRPr lang="en-IN" sz="2800" dirty="0">
              <a:solidFill>
                <a:srgbClr val="090970"/>
              </a:solidFill>
              <a:latin typeface="Wide Latin" panose="020A0A070505050204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EB6C9C-A3B1-50B1-959A-498DC88CE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828" y="1769251"/>
            <a:ext cx="2159924" cy="12172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4DBDBD-58F4-F699-1276-AC842FEAE2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365" y="980103"/>
            <a:ext cx="8831205" cy="46302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C8EE550-EB42-9F0E-90CE-F0AD602637F1}"/>
              </a:ext>
            </a:extLst>
          </p:cNvPr>
          <p:cNvSpPr txBox="1"/>
          <p:nvPr/>
        </p:nvSpPr>
        <p:spPr>
          <a:xfrm>
            <a:off x="331843" y="5636705"/>
            <a:ext cx="1149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Finally, in Tableau, we leveraged calculated fields and dynamic KPI cards to craft a visually compelling narrative. Tableau shines in its ability to </a:t>
            </a:r>
            <a:r>
              <a:rPr lang="en-US" sz="24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highlight patterns and trends</a:t>
            </a:r>
            <a:r>
              <a:rPr lang="en-US" sz="24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with design precision, great for stakeholder presentations and deep-dive analysis.</a:t>
            </a:r>
            <a:endParaRPr lang="en-IN" sz="24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Model 2" descr="Airplane">
                <a:extLst>
                  <a:ext uri="{FF2B5EF4-FFF2-40B4-BE49-F238E27FC236}">
                    <a16:creationId xmlns:a16="http://schemas.microsoft.com/office/drawing/2014/main" id="{4FCDED5B-3522-0837-162C-667454628FD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42623283"/>
                  </p:ext>
                </p:extLst>
              </p:nvPr>
            </p:nvGraphicFramePr>
            <p:xfrm>
              <a:off x="9733934" y="-22226"/>
              <a:ext cx="2458065" cy="2421297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2458065" cy="2421297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3040" ay="13019" az="-21"/>
                    <am3d:postTrans dx="0" dy="0" dz="0"/>
                  </am3d:trans>
                  <am3d:raster rName="Office3DRenderer" rVer="16.0.8326">
                    <am3d:blip r:embed="rId7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Model 2" descr="Airplane">
                <a:extLst>
                  <a:ext uri="{FF2B5EF4-FFF2-40B4-BE49-F238E27FC236}">
                    <a16:creationId xmlns:a16="http://schemas.microsoft.com/office/drawing/2014/main" id="{4FCDED5B-3522-0837-162C-66745462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3934" y="-22226"/>
                <a:ext cx="2458065" cy="2421297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44A73BB-64D3-3C98-FDE4-6BB47C97A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362" y="128688"/>
            <a:ext cx="523220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68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1AB2-51E7-058A-AF57-E0EDA07DC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72284229-68B9-F317-BD87-A97FF160AF5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83244303"/>
                  </p:ext>
                </p:extLst>
              </p:nvPr>
            </p:nvGraphicFramePr>
            <p:xfrm>
              <a:off x="7177547" y="1875503"/>
              <a:ext cx="4896466" cy="310699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896466" cy="3106993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2041768" ay="-2434357" az="-1422727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72284229-68B9-F317-BD87-A97FF160AF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77547" y="1875503"/>
                <a:ext cx="4896466" cy="3106993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2F7AB20-4147-8DF7-E53F-84D5E0C65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3EA659-CAB1-6DA6-342E-4CC07500E27F}"/>
              </a:ext>
            </a:extLst>
          </p:cNvPr>
          <p:cNvSpPr txBox="1"/>
          <p:nvPr/>
        </p:nvSpPr>
        <p:spPr>
          <a:xfrm>
            <a:off x="2871325" y="297516"/>
            <a:ext cx="3440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🔍 </a:t>
            </a:r>
            <a:r>
              <a:rPr lang="en-IN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Final Insights</a:t>
            </a:r>
            <a:endParaRPr lang="en-IN" sz="3200" dirty="0">
              <a:solidFill>
                <a:srgbClr val="09097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E829BF-1C6A-5A7D-7264-6141C649C8B8}"/>
              </a:ext>
            </a:extLst>
          </p:cNvPr>
          <p:cNvSpPr txBox="1"/>
          <p:nvPr/>
        </p:nvSpPr>
        <p:spPr>
          <a:xfrm>
            <a:off x="428231" y="1622323"/>
            <a:ext cx="64543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✈️Southwest Airlines Commands the Market:</a:t>
            </a: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Southwest carried 34.1M passengers, the highest among all carriers, highlighting brand loyalty, vast route coverage, and a competitive edge in the U.S. airline industry.</a:t>
            </a:r>
          </a:p>
          <a:p>
            <a:endParaRPr lang="en-US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📅Q3 Performance Peaks:</a:t>
            </a: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Load Factor % peaks in Q3 (&gt;85%) across all carriers, driven by seasonal demand and holidays. Indicates high operational utilization during these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📌Market Concentration:</a:t>
            </a: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 Top 5 carriers manage over 70% of passengers. High brand dominance and preference, ideal for loyalty program leverage. Use of Power BI and Tableau dashboards allows flexible filtering, ad-hoc analysis, and strategic review – critical for data-driven planning.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BE1360-1611-CB88-DA82-A0D837F2AF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942" y="189270"/>
            <a:ext cx="1386043" cy="13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28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5429-9726-6948-8F4A-D0974506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98407C4E-7949-78F6-858C-32322E52F34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41277195"/>
                  </p:ext>
                </p:extLst>
              </p:nvPr>
            </p:nvGraphicFramePr>
            <p:xfrm>
              <a:off x="4409758" y="911011"/>
              <a:ext cx="10004332" cy="397858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0004332" cy="3978582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410324" ay="-1997676" az="-226051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98407C4E-7949-78F6-858C-32322E52F3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9758" y="911011"/>
                <a:ext cx="10004332" cy="3978582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928FB272-9243-A699-E7B5-A81E16852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DD163D-9A1F-8525-19C2-457DCC989290}"/>
              </a:ext>
            </a:extLst>
          </p:cNvPr>
          <p:cNvSpPr txBox="1"/>
          <p:nvPr/>
        </p:nvSpPr>
        <p:spPr>
          <a:xfrm>
            <a:off x="2962083" y="297380"/>
            <a:ext cx="2795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🔚</a:t>
            </a:r>
            <a:r>
              <a:rPr lang="en-IN" sz="3200" b="1" dirty="0">
                <a:solidFill>
                  <a:srgbClr val="090970"/>
                </a:solidFill>
                <a:latin typeface="Berlin Sans FB Demi" panose="020E0802020502020306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F85499-D371-50EE-3D70-C5F0136863A9}"/>
              </a:ext>
            </a:extLst>
          </p:cNvPr>
          <p:cNvSpPr txBox="1"/>
          <p:nvPr/>
        </p:nvSpPr>
        <p:spPr>
          <a:xfrm>
            <a:off x="211921" y="1592827"/>
            <a:ext cx="73687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The High Clouds Case Study provided a comprehensive view of airline performance through data. By leveraging tools like Excel, SQL, Power BI, and Tableau, we transformed raw flight records into actionable insights. Our deep-dive into KPIs revealed patterns in load efficiency, market dominance, and passenger behavior.</a:t>
            </a:r>
          </a:p>
          <a:p>
            <a:endParaRPr lang="en-US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The findings empower stakeholders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Optimize carrier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Improve route planning.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Strategically target underutilized time slots and days.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  <a:p>
            <a:r>
              <a:rPr lang="en-US" sz="2000" dirty="0">
                <a:solidFill>
                  <a:srgbClr val="090970"/>
                </a:solidFill>
                <a:latin typeface="Tw Cen MT Condensed Extra Bold" panose="020B0803020202020204" pitchFamily="34" charset="0"/>
              </a:rPr>
              <a:t>In a data-driven era, these insights are not just numbers—they’re levers for smarter, faster, and more informed decisions.</a:t>
            </a:r>
          </a:p>
          <a:p>
            <a:endParaRPr lang="en-US" sz="2000" dirty="0">
              <a:solidFill>
                <a:srgbClr val="090970"/>
              </a:solidFill>
              <a:latin typeface="Tw Cen MT Condensed Extra Bold" panose="020B0803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05D909-8045-B2C2-DC76-B4C6A7B93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965" y="4994480"/>
            <a:ext cx="952509" cy="9525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95E70C-723F-ADFB-F1E9-9FBF10A4E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570" y="231446"/>
            <a:ext cx="979666" cy="97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42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CD99-F708-8F59-7063-78E6D8CC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Airplane">
                <a:extLst>
                  <a:ext uri="{FF2B5EF4-FFF2-40B4-BE49-F238E27FC236}">
                    <a16:creationId xmlns:a16="http://schemas.microsoft.com/office/drawing/2014/main" id="{0862A0AF-4FAF-B985-713B-70C19CA4B91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54237306"/>
                  </p:ext>
                </p:extLst>
              </p:nvPr>
            </p:nvGraphicFramePr>
            <p:xfrm>
              <a:off x="-132745" y="456889"/>
              <a:ext cx="13199815" cy="450608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3199815" cy="4506084"/>
                    </a:xfrm>
                    <a:prstGeom prst="rect">
                      <a:avLst/>
                    </a:prstGeom>
                  </am3d:spPr>
                  <am3d:camera>
                    <am3d:pos x="0" y="0" z="63771892"/>
                    <am3d:up dx="0" dy="36000000" dz="0"/>
                    <am3d:lookAt x="0" y="0" z="0"/>
                    <am3d:perspective fov="1103468"/>
                  </am3d:camera>
                  <am3d:trans>
                    <am3d:meterPerModelUnit n="474022" d="1000000"/>
                    <am3d:preTrans dx="0" dy="-5522222" dz="-54636"/>
                    <am3d:scale>
                      <am3d:sx n="1000000" d="1000000"/>
                      <am3d:sy n="1000000" d="1000000"/>
                      <am3d:sz n="1000000" d="1000000"/>
                    </am3d:scale>
                    <am3d:rot ax="2779592" ay="-2863684" az="-2266680"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Airplane">
                <a:extLst>
                  <a:ext uri="{FF2B5EF4-FFF2-40B4-BE49-F238E27FC236}">
                    <a16:creationId xmlns:a16="http://schemas.microsoft.com/office/drawing/2014/main" id="{0862A0AF-4FAF-B985-713B-70C19CA4B91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32745" y="456889"/>
                <a:ext cx="13199815" cy="4506084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DD169815-E660-2D95-8DF6-DAED0AC57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4" y="22226"/>
            <a:ext cx="1397255" cy="931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8B9912-26DC-2E81-27C7-7E994DFA5ACF}"/>
              </a:ext>
            </a:extLst>
          </p:cNvPr>
          <p:cNvSpPr txBox="1"/>
          <p:nvPr/>
        </p:nvSpPr>
        <p:spPr>
          <a:xfrm>
            <a:off x="3270422" y="179890"/>
            <a:ext cx="4944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/>
              <a:t>🙏</a:t>
            </a:r>
            <a:r>
              <a:rPr lang="en-IN" sz="5400" b="1" dirty="0">
                <a:solidFill>
                  <a:srgbClr val="090970"/>
                </a:solidFill>
                <a:latin typeface="Bodoni MT Black" panose="02070A03080606020203" pitchFamily="18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CD1FB-9206-0294-39D8-45A2EC6F3FCE}"/>
              </a:ext>
            </a:extLst>
          </p:cNvPr>
          <p:cNvSpPr txBox="1"/>
          <p:nvPr/>
        </p:nvSpPr>
        <p:spPr>
          <a:xfrm>
            <a:off x="1000366" y="5397636"/>
            <a:ext cx="94848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90970"/>
                </a:solidFill>
                <a:latin typeface="Bodoni MT Black" panose="02070A03080606020203" pitchFamily="18" charset="0"/>
              </a:rPr>
              <a:t>Open for questions and discussion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8E66CF-46D8-2C16-C3A0-38E7F83FF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335" y="5397636"/>
            <a:ext cx="830997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25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1065</Words>
  <Application>Microsoft Office PowerPoint</Application>
  <PresentationFormat>Widescreen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Berlin Sans FB Demi</vt:lpstr>
      <vt:lpstr>Bodoni MT Black</vt:lpstr>
      <vt:lpstr>Calibri</vt:lpstr>
      <vt:lpstr>Calibri Light</vt:lpstr>
      <vt:lpstr>Tw Cen MT Condensed Extra Bold</vt:lpstr>
      <vt:lpstr>Wide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Laxman Teja Tanikonda</dc:creator>
  <cp:lastModifiedBy>Laxman Teja Tanikonda</cp:lastModifiedBy>
  <cp:revision>15</cp:revision>
  <dcterms:created xsi:type="dcterms:W3CDTF">2025-05-01T05:54:08Z</dcterms:created>
  <dcterms:modified xsi:type="dcterms:W3CDTF">2025-05-05T13:59:06Z</dcterms:modified>
</cp:coreProperties>
</file>